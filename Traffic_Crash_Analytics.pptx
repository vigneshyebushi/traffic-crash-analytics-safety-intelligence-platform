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3" r:id="rId1"/>
  </p:sldMasterIdLst>
  <p:notesMasterIdLst>
    <p:notesMasterId r:id="rId13"/>
  </p:notesMasterIdLst>
  <p:sldIdLst>
    <p:sldId id="256" r:id="rId2"/>
    <p:sldId id="258" r:id="rId3"/>
    <p:sldId id="257" r:id="rId4"/>
    <p:sldId id="259" r:id="rId5"/>
    <p:sldId id="269" r:id="rId6"/>
    <p:sldId id="262" r:id="rId7"/>
    <p:sldId id="264" r:id="rId8"/>
    <p:sldId id="263" r:id="rId9"/>
    <p:sldId id="270" r:id="rId10"/>
    <p:sldId id="267" r:id="rId11"/>
    <p:sldId id="27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347" autoAdjust="0"/>
    <p:restoredTop sz="86423" autoAdjust="0"/>
  </p:normalViewPr>
  <p:slideViewPr>
    <p:cSldViewPr snapToGrid="0" snapToObjects="1">
      <p:cViewPr varScale="1">
        <p:scale>
          <a:sx n="91" d="100"/>
          <a:sy n="91" d="100"/>
        </p:scale>
        <p:origin x="53" y="499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D445F8-D683-42B5-9B92-2A7270774888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4D1353-0FC6-40CC-AE7E-5097D96A708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00416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4D1353-0FC6-40CC-AE7E-5097D96A7084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66169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/>
          <p:cNvGrpSpPr/>
          <p:nvPr/>
        </p:nvGrpSpPr>
        <p:grpSpPr>
          <a:xfrm>
            <a:off x="203200" y="0"/>
            <a:ext cx="3778250" cy="6858001"/>
            <a:chOff x="203200" y="0"/>
            <a:chExt cx="3778250" cy="6858001"/>
          </a:xfrm>
        </p:grpSpPr>
        <p:sp>
          <p:nvSpPr>
            <p:cNvPr id="14" name="Freeform 6"/>
            <p:cNvSpPr/>
            <p:nvPr/>
          </p:nvSpPr>
          <p:spPr bwMode="auto">
            <a:xfrm>
              <a:off x="641350" y="0"/>
              <a:ext cx="1365250" cy="3971925"/>
            </a:xfrm>
            <a:custGeom>
              <a:avLst/>
              <a:gdLst/>
              <a:ahLst/>
              <a:cxnLst/>
              <a:rect l="0" t="0" r="r" b="b"/>
              <a:pathLst>
                <a:path w="860" h="2502">
                  <a:moveTo>
                    <a:pt x="0" y="2445"/>
                  </a:moveTo>
                  <a:lnTo>
                    <a:pt x="228" y="2502"/>
                  </a:lnTo>
                  <a:lnTo>
                    <a:pt x="860" y="0"/>
                  </a:lnTo>
                  <a:lnTo>
                    <a:pt x="620" y="0"/>
                  </a:lnTo>
                  <a:lnTo>
                    <a:pt x="0" y="2445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Freeform 7"/>
            <p:cNvSpPr/>
            <p:nvPr/>
          </p:nvSpPr>
          <p:spPr bwMode="auto">
            <a:xfrm>
              <a:off x="203200" y="0"/>
              <a:ext cx="1336675" cy="3862388"/>
            </a:xfrm>
            <a:custGeom>
              <a:avLst/>
              <a:gdLst/>
              <a:ahLst/>
              <a:cxnLst/>
              <a:rect l="0" t="0" r="r" b="b"/>
              <a:pathLst>
                <a:path w="842" h="2433">
                  <a:moveTo>
                    <a:pt x="842" y="0"/>
                  </a:moveTo>
                  <a:lnTo>
                    <a:pt x="602" y="0"/>
                  </a:lnTo>
                  <a:lnTo>
                    <a:pt x="0" y="2376"/>
                  </a:lnTo>
                  <a:lnTo>
                    <a:pt x="228" y="2433"/>
                  </a:lnTo>
                  <a:lnTo>
                    <a:pt x="842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Freeform 8"/>
            <p:cNvSpPr/>
            <p:nvPr/>
          </p:nvSpPr>
          <p:spPr bwMode="auto">
            <a:xfrm>
              <a:off x="207963" y="3776663"/>
              <a:ext cx="1936750" cy="3081338"/>
            </a:xfrm>
            <a:custGeom>
              <a:avLst/>
              <a:gdLst/>
              <a:ahLst/>
              <a:cxnLst/>
              <a:rect l="0" t="0" r="r" b="b"/>
              <a:pathLst>
                <a:path w="1220" h="1941">
                  <a:moveTo>
                    <a:pt x="0" y="0"/>
                  </a:moveTo>
                  <a:lnTo>
                    <a:pt x="1166" y="1941"/>
                  </a:lnTo>
                  <a:lnTo>
                    <a:pt x="1220" y="19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0" name="Freeform 9"/>
            <p:cNvSpPr/>
            <p:nvPr/>
          </p:nvSpPr>
          <p:spPr bwMode="auto">
            <a:xfrm>
              <a:off x="646113" y="3886200"/>
              <a:ext cx="2373313" cy="2971800"/>
            </a:xfrm>
            <a:custGeom>
              <a:avLst/>
              <a:gdLst/>
              <a:ahLst/>
              <a:cxnLst/>
              <a:rect l="0" t="0" r="r" b="b"/>
              <a:pathLst>
                <a:path w="1495" h="1872">
                  <a:moveTo>
                    <a:pt x="1495" y="1872"/>
                  </a:moveTo>
                  <a:lnTo>
                    <a:pt x="0" y="0"/>
                  </a:lnTo>
                  <a:lnTo>
                    <a:pt x="1442" y="1872"/>
                  </a:lnTo>
                  <a:lnTo>
                    <a:pt x="1495" y="1872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Freeform 10"/>
            <p:cNvSpPr/>
            <p:nvPr/>
          </p:nvSpPr>
          <p:spPr bwMode="auto">
            <a:xfrm>
              <a:off x="641350" y="3881438"/>
              <a:ext cx="3340100" cy="2976563"/>
            </a:xfrm>
            <a:custGeom>
              <a:avLst/>
              <a:gdLst/>
              <a:ahLst/>
              <a:cxnLst/>
              <a:rect l="0" t="0" r="r" b="b"/>
              <a:pathLst>
                <a:path w="2104" h="1875">
                  <a:moveTo>
                    <a:pt x="0" y="0"/>
                  </a:moveTo>
                  <a:lnTo>
                    <a:pt x="3" y="3"/>
                  </a:lnTo>
                  <a:lnTo>
                    <a:pt x="1498" y="1875"/>
                  </a:lnTo>
                  <a:lnTo>
                    <a:pt x="2104" y="1875"/>
                  </a:lnTo>
                  <a:lnTo>
                    <a:pt x="228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2" name="Freeform 11"/>
            <p:cNvSpPr/>
            <p:nvPr/>
          </p:nvSpPr>
          <p:spPr bwMode="auto">
            <a:xfrm>
              <a:off x="203200" y="3771900"/>
              <a:ext cx="2660650" cy="3086100"/>
            </a:xfrm>
            <a:custGeom>
              <a:avLst/>
              <a:gdLst/>
              <a:ahLst/>
              <a:cxnLst/>
              <a:rect l="0" t="0" r="r" b="b"/>
              <a:pathLst>
                <a:path w="1676" h="1944">
                  <a:moveTo>
                    <a:pt x="1676" y="1944"/>
                  </a:moveTo>
                  <a:lnTo>
                    <a:pt x="264" y="111"/>
                  </a:lnTo>
                  <a:lnTo>
                    <a:pt x="225" y="60"/>
                  </a:lnTo>
                  <a:lnTo>
                    <a:pt x="228" y="60"/>
                  </a:lnTo>
                  <a:lnTo>
                    <a:pt x="264" y="111"/>
                  </a:lnTo>
                  <a:lnTo>
                    <a:pt x="234" y="69"/>
                  </a:lnTo>
                  <a:lnTo>
                    <a:pt x="228" y="57"/>
                  </a:lnTo>
                  <a:lnTo>
                    <a:pt x="222" y="54"/>
                  </a:lnTo>
                  <a:lnTo>
                    <a:pt x="0" y="0"/>
                  </a:lnTo>
                  <a:lnTo>
                    <a:pt x="3" y="3"/>
                  </a:lnTo>
                  <a:lnTo>
                    <a:pt x="1223" y="1944"/>
                  </a:lnTo>
                  <a:lnTo>
                    <a:pt x="1676" y="1944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39673" y="914401"/>
            <a:ext cx="6947127" cy="3488266"/>
          </a:xfrm>
        </p:spPr>
        <p:txBody>
          <a:bodyPr anchor="b">
            <a:normAutofit/>
          </a:bodyPr>
          <a:lstStyle>
            <a:lvl1pPr algn="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24238" y="4402666"/>
            <a:ext cx="5762563" cy="1364531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25773" y="6117336"/>
            <a:ext cx="857473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623733" y="6117336"/>
            <a:ext cx="3609438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75320" y="6117336"/>
            <a:ext cx="41148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3" name="Freeform 12"/>
          <p:cNvSpPr/>
          <p:nvPr/>
        </p:nvSpPr>
        <p:spPr bwMode="auto">
          <a:xfrm>
            <a:off x="203200" y="3771900"/>
            <a:ext cx="361950" cy="90488"/>
          </a:xfrm>
          <a:custGeom>
            <a:avLst/>
            <a:gdLst/>
            <a:ahLst/>
            <a:cxnLst/>
            <a:rect l="0" t="0" r="r" b="b"/>
            <a:pathLst>
              <a:path w="228" h="57">
                <a:moveTo>
                  <a:pt x="228" y="57"/>
                </a:moveTo>
                <a:lnTo>
                  <a:pt x="0" y="0"/>
                </a:lnTo>
                <a:lnTo>
                  <a:pt x="222" y="54"/>
                </a:lnTo>
                <a:lnTo>
                  <a:pt x="228" y="57"/>
                </a:lnTo>
                <a:close/>
              </a:path>
            </a:pathLst>
          </a:custGeom>
          <a:solidFill>
            <a:srgbClr val="29ABE2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IN"/>
          </a:p>
        </p:txBody>
      </p:sp>
      <p:sp>
        <p:nvSpPr>
          <p:cNvPr id="24" name="Freeform 13"/>
          <p:cNvSpPr/>
          <p:nvPr/>
        </p:nvSpPr>
        <p:spPr bwMode="auto">
          <a:xfrm>
            <a:off x="560388" y="3867150"/>
            <a:ext cx="61913" cy="80963"/>
          </a:xfrm>
          <a:custGeom>
            <a:avLst/>
            <a:gdLst/>
            <a:ahLst/>
            <a:cxnLst/>
            <a:rect l="0" t="0" r="r" b="b"/>
            <a:pathLst>
              <a:path w="39" h="51">
                <a:moveTo>
                  <a:pt x="0" y="0"/>
                </a:moveTo>
                <a:lnTo>
                  <a:pt x="39" y="51"/>
                </a:lnTo>
                <a:lnTo>
                  <a:pt x="3" y="0"/>
                </a:lnTo>
                <a:lnTo>
                  <a:pt x="0" y="0"/>
                </a:lnTo>
                <a:close/>
              </a:path>
            </a:pathLst>
          </a:custGeom>
          <a:solidFill>
            <a:srgbClr val="29ABE2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3496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19812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2667000"/>
            <a:ext cx="7704667" cy="333281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44329" y="6108173"/>
            <a:ext cx="857473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72647" y="6108173"/>
            <a:ext cx="5314517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58967" y="6108173"/>
            <a:ext cx="427833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44287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6995" y="2666998"/>
            <a:ext cx="6699805" cy="2360071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86998" y="5027070"/>
            <a:ext cx="6699802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73317" y="6116070"/>
            <a:ext cx="413483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4506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685801"/>
            <a:ext cx="7704667" cy="17525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2133" y="2667000"/>
            <a:ext cx="3739896" cy="3368674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46904" y="2667000"/>
            <a:ext cx="3739896" cy="3346824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479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29481" y="2658533"/>
            <a:ext cx="345629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3523" y="3335336"/>
            <a:ext cx="3672248" cy="2665259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61710" y="2667000"/>
            <a:ext cx="3467806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57266" y="3335336"/>
            <a:ext cx="3672248" cy="2665259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9744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2333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450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4" y="1600200"/>
            <a:ext cx="2662534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7553" y="685800"/>
            <a:ext cx="4681962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3524" y="2971800"/>
            <a:ext cx="2662534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4861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2332" y="1752599"/>
            <a:ext cx="4070679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97495" y="914400"/>
            <a:ext cx="2461371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2332" y="3124199"/>
            <a:ext cx="4070679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8946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3" y="4732865"/>
            <a:ext cx="751599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89975" y="932112"/>
            <a:ext cx="6171065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3523" y="5299603"/>
            <a:ext cx="751599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9202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4" y="685800"/>
            <a:ext cx="751599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343400"/>
            <a:ext cx="7515992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3648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969421" y="863023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2197" y="2819399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6741" y="685801"/>
            <a:ext cx="6974115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598235" y="3428999"/>
            <a:ext cx="6631128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3" y="4343400"/>
            <a:ext cx="751599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2980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5" y="3308581"/>
            <a:ext cx="751598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777381"/>
            <a:ext cx="751599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1861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969421" y="863023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2197" y="2819399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6741" y="685801"/>
            <a:ext cx="6974115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13525" y="3886200"/>
            <a:ext cx="751599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775200"/>
            <a:ext cx="751599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7104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5" y="685801"/>
            <a:ext cx="7515991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13524" y="3505200"/>
            <a:ext cx="7515992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343400"/>
            <a:ext cx="7515992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9576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74454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01393" y="685800"/>
            <a:ext cx="1328123" cy="5105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3524" y="685800"/>
            <a:ext cx="6016373" cy="51054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19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>
            <a:off x="0" y="0"/>
            <a:ext cx="2132013" cy="6858001"/>
            <a:chOff x="0" y="0"/>
            <a:chExt cx="2132013" cy="6858001"/>
          </a:xfrm>
        </p:grpSpPr>
        <p:sp>
          <p:nvSpPr>
            <p:cNvPr id="15" name="Freeform 6"/>
            <p:cNvSpPr/>
            <p:nvPr/>
          </p:nvSpPr>
          <p:spPr bwMode="auto">
            <a:xfrm>
              <a:off x="0" y="0"/>
              <a:ext cx="1073150" cy="5291138"/>
            </a:xfrm>
            <a:custGeom>
              <a:avLst/>
              <a:gdLst/>
              <a:ahLst/>
              <a:cxnLst/>
              <a:rect l="0" t="0" r="r" b="b"/>
              <a:pathLst>
                <a:path w="676" h="3333">
                  <a:moveTo>
                    <a:pt x="0" y="3132"/>
                  </a:moveTo>
                  <a:lnTo>
                    <a:pt x="0" y="3312"/>
                  </a:lnTo>
                  <a:lnTo>
                    <a:pt x="126" y="3333"/>
                  </a:lnTo>
                  <a:lnTo>
                    <a:pt x="676" y="0"/>
                  </a:lnTo>
                  <a:lnTo>
                    <a:pt x="514" y="0"/>
                  </a:lnTo>
                  <a:lnTo>
                    <a:pt x="0" y="313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Freeform 7"/>
            <p:cNvSpPr/>
            <p:nvPr/>
          </p:nvSpPr>
          <p:spPr bwMode="auto">
            <a:xfrm>
              <a:off x="0" y="0"/>
              <a:ext cx="758825" cy="4624388"/>
            </a:xfrm>
            <a:custGeom>
              <a:avLst/>
              <a:gdLst/>
              <a:ahLst/>
              <a:cxnLst/>
              <a:rect l="0" t="0" r="r" b="b"/>
              <a:pathLst>
                <a:path w="478" h="2913">
                  <a:moveTo>
                    <a:pt x="478" y="0"/>
                  </a:moveTo>
                  <a:lnTo>
                    <a:pt x="318" y="0"/>
                  </a:lnTo>
                  <a:lnTo>
                    <a:pt x="0" y="1938"/>
                  </a:lnTo>
                  <a:lnTo>
                    <a:pt x="0" y="2913"/>
                  </a:lnTo>
                  <a:lnTo>
                    <a:pt x="478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Freeform 8"/>
            <p:cNvSpPr/>
            <p:nvPr/>
          </p:nvSpPr>
          <p:spPr bwMode="auto">
            <a:xfrm>
              <a:off x="0" y="5662613"/>
              <a:ext cx="906463" cy="1195388"/>
            </a:xfrm>
            <a:custGeom>
              <a:avLst/>
              <a:gdLst/>
              <a:ahLst/>
              <a:cxnLst/>
              <a:rect l="0" t="0" r="r" b="b"/>
              <a:pathLst>
                <a:path w="571" h="753">
                  <a:moveTo>
                    <a:pt x="0" y="0"/>
                  </a:moveTo>
                  <a:lnTo>
                    <a:pt x="0" y="12"/>
                  </a:lnTo>
                  <a:lnTo>
                    <a:pt x="538" y="753"/>
                  </a:lnTo>
                  <a:lnTo>
                    <a:pt x="571" y="7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Freeform 9"/>
            <p:cNvSpPr/>
            <p:nvPr/>
          </p:nvSpPr>
          <p:spPr bwMode="auto">
            <a:xfrm>
              <a:off x="0" y="5295900"/>
              <a:ext cx="1487488" cy="1562100"/>
            </a:xfrm>
            <a:custGeom>
              <a:avLst/>
              <a:gdLst/>
              <a:ahLst/>
              <a:cxnLst/>
              <a:rect l="0" t="0" r="r" b="b"/>
              <a:pathLst>
                <a:path w="937" h="984">
                  <a:moveTo>
                    <a:pt x="0" y="0"/>
                  </a:moveTo>
                  <a:lnTo>
                    <a:pt x="0" y="3"/>
                  </a:lnTo>
                  <a:lnTo>
                    <a:pt x="901" y="984"/>
                  </a:lnTo>
                  <a:lnTo>
                    <a:pt x="937" y="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9" name="Freeform 10"/>
            <p:cNvSpPr/>
            <p:nvPr/>
          </p:nvSpPr>
          <p:spPr bwMode="auto">
            <a:xfrm>
              <a:off x="0" y="5257800"/>
              <a:ext cx="2132013" cy="1600200"/>
            </a:xfrm>
            <a:custGeom>
              <a:avLst/>
              <a:gdLst/>
              <a:ahLst/>
              <a:cxnLst/>
              <a:rect l="0" t="0" r="r" b="b"/>
              <a:pathLst>
                <a:path w="1343" h="1008">
                  <a:moveTo>
                    <a:pt x="0" y="24"/>
                  </a:moveTo>
                  <a:lnTo>
                    <a:pt x="937" y="1008"/>
                  </a:lnTo>
                  <a:lnTo>
                    <a:pt x="1343" y="1008"/>
                  </a:lnTo>
                  <a:lnTo>
                    <a:pt x="126" y="21"/>
                  </a:lnTo>
                  <a:lnTo>
                    <a:pt x="0" y="0"/>
                  </a:lnTo>
                  <a:lnTo>
                    <a:pt x="0" y="24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0" name="Freeform 11"/>
            <p:cNvSpPr/>
            <p:nvPr/>
          </p:nvSpPr>
          <p:spPr bwMode="auto">
            <a:xfrm>
              <a:off x="0" y="5357813"/>
              <a:ext cx="1377950" cy="1500188"/>
            </a:xfrm>
            <a:custGeom>
              <a:avLst/>
              <a:gdLst/>
              <a:ahLst/>
              <a:cxnLst/>
              <a:rect l="0" t="0" r="r" b="b"/>
              <a:pathLst>
                <a:path w="868" h="945">
                  <a:moveTo>
                    <a:pt x="0" y="192"/>
                  </a:moveTo>
                  <a:lnTo>
                    <a:pt x="571" y="945"/>
                  </a:lnTo>
                  <a:lnTo>
                    <a:pt x="868" y="945"/>
                  </a:lnTo>
                  <a:lnTo>
                    <a:pt x="0" y="0"/>
                  </a:lnTo>
                  <a:lnTo>
                    <a:pt x="0" y="192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19812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134" y="2667000"/>
            <a:ext cx="7704666" cy="33569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8679" y="6116070"/>
            <a:ext cx="8574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86997" y="6116070"/>
            <a:ext cx="5314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73317" y="6116070"/>
            <a:ext cx="41348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4357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  <p:sldLayoutId id="2147483760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76000"/>
                <a:satMod val="180000"/>
              </a:schemeClr>
              <a:schemeClr val="bg2">
                <a:tint val="80000"/>
                <a:satMod val="120000"/>
                <a:lumMod val="18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890837" y="965200"/>
            <a:ext cx="5529263" cy="3404680"/>
          </a:xfrm>
        </p:spPr>
        <p:txBody>
          <a:bodyPr>
            <a:normAutofit fontScale="90000"/>
          </a:bodyPr>
          <a:lstStyle/>
          <a:p>
            <a:pPr algn="l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Traffic Crash Analytics &amp; Safety Intelligence Platform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0" y="5258915"/>
            <a:ext cx="5529263" cy="1388892"/>
          </a:xfrm>
        </p:spPr>
        <p:txBody>
          <a:bodyPr>
            <a:normAutofit/>
          </a:bodyPr>
          <a:lstStyle/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Submitted By : Vignesh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Yebushi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Technologies : Python | SQLite |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Streamlit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478172"/>
            <a:ext cx="7704667" cy="1510019"/>
          </a:xfrm>
        </p:spPr>
        <p:txBody>
          <a:bodyPr>
            <a:normAutofit/>
          </a:bodyPr>
          <a:lstStyle/>
          <a:p>
            <a:r>
              <a:rPr lang="en-IN" sz="4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  <a:endParaRPr sz="49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39333" y="1988191"/>
            <a:ext cx="7704667" cy="3959603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Traffic Crash Analytics &amp; Safety Intelligence Platform is a</a:t>
            </a:r>
          </a:p>
          <a:p>
            <a:pPr marL="0" indent="0" algn="just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project built with the aid of  Python, SQLite and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Streamlit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</a:t>
            </a:r>
          </a:p>
          <a:p>
            <a:pPr marL="0" indent="0" algn="just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analyze traffic accident data and provide useful</a:t>
            </a:r>
          </a:p>
          <a:p>
            <a:pPr marL="0" indent="0" algn="just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information on road safety, trends in accidents, accident patterns,</a:t>
            </a:r>
          </a:p>
          <a:p>
            <a:pPr marL="0" indent="0" algn="just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accident causality risks. In this project, different advanced</a:t>
            </a:r>
          </a:p>
          <a:p>
            <a:pPr marL="0" indent="0" algn="just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SQL methods have been used to find out risk hotspots, risky</a:t>
            </a:r>
          </a:p>
          <a:p>
            <a:pPr marL="0" indent="0" algn="just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periods, and accident causality factors from the traffic data set.</a:t>
            </a:r>
          </a:p>
          <a:p>
            <a:pPr marL="0" indent="0" algn="just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findings and business intelligence obtained through the</a:t>
            </a:r>
          </a:p>
          <a:p>
            <a:pPr marL="0" indent="0" algn="just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analysis are displayed through a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Streamlit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interface.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763399"/>
            <a:ext cx="7704667" cy="1610686"/>
          </a:xfrm>
        </p:spPr>
        <p:txBody>
          <a:bodyPr>
            <a:normAutofit/>
          </a:bodyPr>
          <a:lstStyle/>
          <a:p>
            <a:r>
              <a:rPr sz="4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4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ROBLEM STATEMENT</a:t>
            </a:r>
            <a:endParaRPr sz="49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07968" y="2438400"/>
            <a:ext cx="7704667" cy="2720829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Traffic crash data contains valuable insights that can help improve road safety, optimize emergency response, and support policy decisions. However, extracting meaningful insights from large-scale structured data requires strong SQL and analytical skills. </a:t>
            </a:r>
            <a:endParaRPr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IN" sz="4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ECHNOLOGY STACK</a:t>
            </a:r>
            <a:endParaRPr sz="49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2206305"/>
            <a:ext cx="7704667" cy="3793511"/>
          </a:xfrm>
        </p:spPr>
        <p:txBody>
          <a:bodyPr>
            <a:normAutofit lnSpcReduction="10000"/>
          </a:bodyPr>
          <a:lstStyle/>
          <a:p>
            <a:pPr algn="just"/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version 3.12.4 )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Used to load the CSV data into SQLite, execute SQL queries. It was also used to connect the SQLite database with the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Streamlit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dashboard.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SQLite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(version3):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Used to store and manage the traffic crash data in a structured relational database. It is lightweight, serverless, and easily integrates with Python, making it suitable for this analytics project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Streamlit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(version 1.58.0) 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Used to create an interactive dashboard for displaying query results and business insights.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890C3-5B3E-D3C5-802A-46518E742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133" y="276837"/>
            <a:ext cx="7704667" cy="1249959"/>
          </a:xfrm>
        </p:spPr>
        <p:txBody>
          <a:bodyPr>
            <a:normAutofit/>
          </a:bodyPr>
          <a:lstStyle/>
          <a:p>
            <a:r>
              <a:rPr lang="en-IN" sz="4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ARCHITECTURE 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248F2A2-083D-9045-EBC6-E58DCA2D86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82133" y="1812022"/>
            <a:ext cx="7809529" cy="4211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1853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251671"/>
            <a:ext cx="7704667" cy="1140901"/>
          </a:xfrm>
        </p:spPr>
        <p:txBody>
          <a:bodyPr>
            <a:normAutofit/>
          </a:bodyPr>
          <a:lstStyle/>
          <a:p>
            <a:r>
              <a:rPr sz="4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SQL A</a:t>
            </a:r>
            <a:r>
              <a:rPr lang="en-IN" sz="4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NALYSIS</a:t>
            </a:r>
            <a:endParaRPr sz="49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5794" y="1392572"/>
            <a:ext cx="6132353" cy="5008227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 analytical SQL queries implemented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Advanced SQL Concepts Used</a:t>
            </a:r>
          </a:p>
          <a:p>
            <a:pPr algn="just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GROUP BY() </a:t>
            </a:r>
          </a:p>
          <a:p>
            <a:pPr algn="just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CASE()</a:t>
            </a:r>
          </a:p>
          <a:p>
            <a:pPr algn="just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HAVING()</a:t>
            </a:r>
          </a:p>
          <a:p>
            <a:pPr algn="just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CTE()</a:t>
            </a:r>
          </a:p>
          <a:p>
            <a:pPr algn="just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ROW_NUMBER()</a:t>
            </a:r>
          </a:p>
          <a:p>
            <a:pPr algn="just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LAG()</a:t>
            </a:r>
          </a:p>
          <a:p>
            <a:pPr marL="0" indent="0" algn="just">
              <a:buNone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Queries</a:t>
            </a:r>
          </a:p>
          <a:p>
            <a:pPr algn="just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Hotspot Analysis</a:t>
            </a:r>
          </a:p>
          <a:p>
            <a:pPr algn="just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Year-over-Year Growth</a:t>
            </a:r>
          </a:p>
          <a:p>
            <a:pPr algn="just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Contributing Causes</a:t>
            </a:r>
          </a:p>
          <a:p>
            <a:pPr algn="just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Injury Rate Analysis</a:t>
            </a:r>
            <a:endParaRPr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1187041"/>
          </a:xfrm>
        </p:spPr>
        <p:txBody>
          <a:bodyPr>
            <a:normAutofit fontScale="90000"/>
          </a:bodyPr>
          <a:lstStyle/>
          <a:p>
            <a:r>
              <a:rPr sz="4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IN" sz="4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TREAMLIT DASHBOARD</a:t>
            </a:r>
            <a:endParaRPr sz="49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AEBBF141-614D-26E7-9899-C4522E44E4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74459" y="1803634"/>
            <a:ext cx="7617203" cy="425321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285227"/>
            <a:ext cx="7704667" cy="1258348"/>
          </a:xfrm>
        </p:spPr>
        <p:txBody>
          <a:bodyPr>
            <a:normAutofit fontScale="90000"/>
          </a:bodyPr>
          <a:lstStyle/>
          <a:p>
            <a:r>
              <a:rPr sz="4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IN" sz="4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AMPLE QUERY RESULTS</a:t>
            </a:r>
            <a:endParaRPr sz="49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20DECE8C-DE21-4D1F-E13D-CDA2186660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75454" y="1669409"/>
            <a:ext cx="7704666" cy="433710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F070115-E740-F34B-DAC5-0458A615F5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22" y="796955"/>
            <a:ext cx="8002476" cy="5058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47951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1363210"/>
          </a:xfrm>
        </p:spPr>
        <p:txBody>
          <a:bodyPr/>
          <a:lstStyle/>
          <a:p>
            <a:r>
              <a:rPr lang="en-IN" sz="4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r>
              <a:rPr lang="en-IN" dirty="0"/>
              <a:t> 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1753299"/>
            <a:ext cx="7704667" cy="4246517"/>
          </a:xfrm>
        </p:spPr>
        <p:txBody>
          <a:bodyPr>
            <a:normAutofit lnSpcReduction="10000"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Successfully analyzed 660,934 traffic crash records using Python, SQLite, and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Streamlit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Identified crash hotspots, injury patterns, peak crash periods, and major contributing causes through advanced SQL analysis.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Developed an interactive dashboard that converts raw crash data into meaningful insights for road safety planning.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project demonstrates how data analytics can support data-driven decisions to improve traffic safety and reduce accident risks.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01672-BDC8-C3FC-6AFE-E0BBE3AB8E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5800986"/>
          </a:xfrm>
        </p:spPr>
        <p:txBody>
          <a:bodyPr>
            <a:normAutofit/>
          </a:bodyPr>
          <a:lstStyle/>
          <a:p>
            <a:r>
              <a:rPr lang="en-US" sz="4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lang="en-IN" sz="49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4952BD-E879-7390-6F2E-C87099D5DF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2784511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EBEBEB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Parallax</Template>
  <TotalTime>442</TotalTime>
  <Words>370</Words>
  <Application>Microsoft Office PowerPoint</Application>
  <PresentationFormat>On-screen Show (4:3)</PresentationFormat>
  <Paragraphs>43</Paragraphs>
  <Slides>11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Parallax</vt:lpstr>
      <vt:lpstr>Traffic Crash Analytics &amp; Safety Intelligence Platform</vt:lpstr>
      <vt:lpstr>ABSTRACT</vt:lpstr>
      <vt:lpstr>PROBLEM STATEMENT</vt:lpstr>
      <vt:lpstr>TECHNOLOGY STACK</vt:lpstr>
      <vt:lpstr>ARCHITECTURE </vt:lpstr>
      <vt:lpstr>SQL ANALYSIS</vt:lpstr>
      <vt:lpstr>STREAMLIT DASHBOARD</vt:lpstr>
      <vt:lpstr>SAMPLE QUERY RESULTS</vt:lpstr>
      <vt:lpstr>PowerPoint Presentation</vt:lpstr>
      <vt:lpstr>CONCLUSION 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Snehal Sonkamble</dc:creator>
  <cp:keywords/>
  <dc:description>generated using python-pptx</dc:description>
  <cp:lastModifiedBy>Vignesh Patel</cp:lastModifiedBy>
  <cp:revision>5</cp:revision>
  <dcterms:created xsi:type="dcterms:W3CDTF">2013-01-27T09:14:16Z</dcterms:created>
  <dcterms:modified xsi:type="dcterms:W3CDTF">2026-06-09T15:49:52Z</dcterms:modified>
  <cp:category/>
</cp:coreProperties>
</file>